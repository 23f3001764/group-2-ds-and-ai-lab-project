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nor Sans" charset="1" panose="02000000000000000000"/>
      <p:regular r:id="rId20"/>
    </p:embeddedFont>
    <p:embeddedFont>
      <p:font typeface="Clear Sans" charset="1" panose="020B05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935" y="1038006"/>
            <a:ext cx="13228004" cy="7032349"/>
            <a:chOff x="0" y="0"/>
            <a:chExt cx="17637339" cy="93764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7637339" cy="727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00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NutriVision – </a:t>
              </a:r>
            </a:p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00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AI-Powered Indian Food Nutrition Estimator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977644"/>
              <a:ext cx="17637339" cy="1398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2"/>
                </a:lnSpc>
                <a:spcBef>
                  <a:spcPct val="0"/>
                </a:spcBef>
              </a:pPr>
              <a:r>
                <a:rPr lang="en-US" sz="308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BS IN DATA SCIENCE AND APPLICATIONS, IIT MADRAS</a:t>
              </a:r>
            </a:p>
            <a:p>
              <a:pPr algn="l" marL="0" indent="0" lvl="0">
                <a:lnSpc>
                  <a:spcPts val="4312"/>
                </a:lnSpc>
                <a:spcBef>
                  <a:spcPct val="0"/>
                </a:spcBef>
              </a:pPr>
              <a:r>
                <a:rPr lang="en-US" sz="308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GROUP 2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7332" y="2512522"/>
            <a:ext cx="5261956" cy="5261956"/>
          </a:xfrm>
          <a:custGeom>
            <a:avLst/>
            <a:gdLst/>
            <a:ahLst/>
            <a:cxnLst/>
            <a:rect r="r" b="b" t="t" l="l"/>
            <a:pathLst>
              <a:path h="5261956" w="5261956">
                <a:moveTo>
                  <a:pt x="0" y="0"/>
                </a:moveTo>
                <a:lnTo>
                  <a:pt x="5261956" y="0"/>
                </a:lnTo>
                <a:lnTo>
                  <a:pt x="5261956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05858" y="298802"/>
            <a:ext cx="9076283" cy="109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8100" spc="-16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1566"/>
            <a:ext cx="10885289" cy="474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spc="-49" u="sng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Content</a:t>
            </a:r>
          </a:p>
          <a:p>
            <a:pPr algn="l">
              <a:lnSpc>
                <a:spcPts val="2499"/>
              </a:lnSpc>
              <a:spcBef>
                <a:spcPct val="0"/>
              </a:spcBef>
            </a:pPr>
          </a:p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Estimating nutrition intake from meals is difficult because: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 meals contain multiple food items on one plate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Portion sizes vary significantly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Manual calorie logging is inconvenient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Existing apps require manual food entry</a:t>
            </a:r>
          </a:p>
          <a:p>
            <a:pPr algn="l">
              <a:lnSpc>
                <a:spcPts val="2499"/>
              </a:lnSpc>
            </a:pPr>
          </a:p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spc="-49" u="sng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Our Solution</a:t>
            </a:r>
          </a:p>
          <a:p>
            <a:pPr algn="l">
              <a:lnSpc>
                <a:spcPts val="2499"/>
              </a:lnSpc>
              <a:spcBef>
                <a:spcPct val="0"/>
              </a:spcBef>
            </a:pPr>
          </a:p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NutriVision uses Computer Vision + AI + RAG to automatically estimate: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Food type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Portion weight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Nutritional intake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Personalised diet suggestions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16489" y="1409917"/>
            <a:ext cx="6771511" cy="8699822"/>
          </a:xfrm>
          <a:custGeom>
            <a:avLst/>
            <a:gdLst/>
            <a:ahLst/>
            <a:cxnLst/>
            <a:rect r="r" b="b" t="t" l="l"/>
            <a:pathLst>
              <a:path h="8699822" w="6771511">
                <a:moveTo>
                  <a:pt x="0" y="0"/>
                </a:moveTo>
                <a:lnTo>
                  <a:pt x="6771511" y="0"/>
                </a:lnTo>
                <a:lnTo>
                  <a:pt x="6771511" y="8699822"/>
                </a:lnTo>
                <a:lnTo>
                  <a:pt x="0" y="869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4004" y="159486"/>
            <a:ext cx="16357045" cy="181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NutriVision – AI-Powered Indian Food Nutrition Estimator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Milestone 2: Dataset Analysis, EDA &amp; System Architecture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Team: Group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689" y="2308069"/>
            <a:ext cx="10208865" cy="165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  <a:spcBef>
                <a:spcPct val="0"/>
              </a:spcBef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Objective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Build an AI system that detects Indian food from a plate image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Estimate portion size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Calculate nutrition values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Provide personalized diet suggestions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689" y="4474782"/>
            <a:ext cx="9073865" cy="15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The system consists of 4 major stages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Food Detection : Model: YOLOv8 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Weight Estimation : Model: MLP regression model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 Lookup : Source: Indian Food Nutrition Dataset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Personalised Suggestions : RAG + Gemini + MedGemma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800329" y="2140401"/>
          <a:ext cx="7543800" cy="3771900"/>
        </p:xfrm>
        <a:graphic>
          <a:graphicData uri="http://schemas.openxmlformats.org/presentationml/2006/ole">
            <p:oleObj imgW="90424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501008" y="419100"/>
            <a:ext cx="879723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10500" spc="-21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3066" y="2061618"/>
            <a:ext cx="10732594" cy="4975712"/>
          </a:xfrm>
          <a:custGeom>
            <a:avLst/>
            <a:gdLst/>
            <a:ahLst/>
            <a:cxnLst/>
            <a:rect r="r" b="b" t="t" l="l"/>
            <a:pathLst>
              <a:path h="4975712" w="10732594">
                <a:moveTo>
                  <a:pt x="0" y="0"/>
                </a:moveTo>
                <a:lnTo>
                  <a:pt x="10732595" y="0"/>
                </a:lnTo>
                <a:lnTo>
                  <a:pt x="10732595" y="4975712"/>
                </a:lnTo>
                <a:lnTo>
                  <a:pt x="0" y="4975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3753" y="294853"/>
            <a:ext cx="1140953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IndianFood10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0048"/>
            <a:ext cx="8893850" cy="765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Source: Roboflow Universe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11,547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10 food classes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Annotated with bounding boxes 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842 multi-dish plates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Classes include: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chapati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rice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dal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idli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vada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sambar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poha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pongal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 observed:</a:t>
            </a:r>
          </a:p>
          <a:p>
            <a:pPr algn="l">
              <a:lnSpc>
                <a:spcPts val="2400"/>
              </a:lnSpc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imbalance across categories: Class 1 has 6000 images</a:t>
            </a:r>
          </a:p>
          <a:p>
            <a:pPr algn="l">
              <a:lnSpc>
                <a:spcPts val="2400"/>
              </a:lnSpc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 augmentation for minority classes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8794" y="1685601"/>
            <a:ext cx="10128019" cy="7572699"/>
          </a:xfrm>
          <a:custGeom>
            <a:avLst/>
            <a:gdLst/>
            <a:ahLst/>
            <a:cxnLst/>
            <a:rect r="r" b="b" t="t" l="l"/>
            <a:pathLst>
              <a:path h="7572699" w="10128019">
                <a:moveTo>
                  <a:pt x="0" y="0"/>
                </a:moveTo>
                <a:lnTo>
                  <a:pt x="10128019" y="0"/>
                </a:lnTo>
                <a:lnTo>
                  <a:pt x="10128019" y="7572699"/>
                </a:lnTo>
                <a:lnTo>
                  <a:pt x="0" y="7572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357373" y="384507"/>
            <a:ext cx="1408528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IndianFoodNet-30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64845"/>
            <a:ext cx="6027539" cy="67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Purpose: Increase food class coverage.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5,446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30 Indian dishes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Bounding box annotations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Examples of added foods: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biryani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butter chicken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dosa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rajma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aloo paratha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chole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 observed: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imbalance across categories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Solution:</a:t>
            </a:r>
          </a:p>
          <a:p>
            <a:pPr algn="l">
              <a:lnSpc>
                <a:spcPts val="2400"/>
              </a:lnSpc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 augmentation for minority classes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9188" y="2573066"/>
            <a:ext cx="9506819" cy="6685234"/>
          </a:xfrm>
          <a:custGeom>
            <a:avLst/>
            <a:gdLst/>
            <a:ahLst/>
            <a:cxnLst/>
            <a:rect r="r" b="b" t="t" l="l"/>
            <a:pathLst>
              <a:path h="6685234" w="9506819">
                <a:moveTo>
                  <a:pt x="0" y="0"/>
                </a:moveTo>
                <a:lnTo>
                  <a:pt x="9506819" y="0"/>
                </a:lnTo>
                <a:lnTo>
                  <a:pt x="9506819" y="6685234"/>
                </a:lnTo>
                <a:lnTo>
                  <a:pt x="0" y="6685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968100" y="297471"/>
            <a:ext cx="1421215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South Indian Food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9677" y="1639124"/>
            <a:ext cx="5056994" cy="704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Purpose : 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Balance regional representation.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9,338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Focus on South Indian cuisine</a:t>
            </a:r>
          </a:p>
          <a:p>
            <a:pPr algn="l">
              <a:lnSpc>
                <a:spcPts val="2400"/>
              </a:lnSpc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Key foods: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dosa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idli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vada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rasam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uttapam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payasam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chutney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Impact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Without dataset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South Indian representation: 23%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After combining datasets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South Indian representation: 42%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93490" y="2562540"/>
            <a:ext cx="10465810" cy="3271583"/>
          </a:xfrm>
          <a:custGeom>
            <a:avLst/>
            <a:gdLst/>
            <a:ahLst/>
            <a:cxnLst/>
            <a:rect r="r" b="b" t="t" l="l"/>
            <a:pathLst>
              <a:path h="3271583" w="10465810">
                <a:moveTo>
                  <a:pt x="0" y="0"/>
                </a:moveTo>
                <a:lnTo>
                  <a:pt x="10465810" y="0"/>
                </a:lnTo>
                <a:lnTo>
                  <a:pt x="10465810" y="3271583"/>
                </a:lnTo>
                <a:lnTo>
                  <a:pt x="0" y="3271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671144" y="2562540"/>
          <a:ext cx="5657850" cy="3143250"/>
        </p:xfrm>
        <a:graphic>
          <a:graphicData uri="http://schemas.openxmlformats.org/presentationml/2006/ole">
            <p:oleObj imgW="6781800" imgH="4267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26129" y="327695"/>
            <a:ext cx="1287716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Quality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790" y="1901579"/>
            <a:ext cx="4586697" cy="33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Annotation quality check results: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60154" y="2688727"/>
            <a:ext cx="10127846" cy="5912376"/>
          </a:xfrm>
          <a:custGeom>
            <a:avLst/>
            <a:gdLst/>
            <a:ahLst/>
            <a:cxnLst/>
            <a:rect r="r" b="b" t="t" l="l"/>
            <a:pathLst>
              <a:path h="5912376" w="10127846">
                <a:moveTo>
                  <a:pt x="0" y="0"/>
                </a:moveTo>
                <a:lnTo>
                  <a:pt x="10127846" y="0"/>
                </a:lnTo>
                <a:lnTo>
                  <a:pt x="10127846" y="5912376"/>
                </a:lnTo>
                <a:lnTo>
                  <a:pt x="0" y="591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4485" y="385880"/>
            <a:ext cx="1321426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Multi-Dish Plate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99922"/>
            <a:ext cx="8080995" cy="391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Multi-dish plates are critical because: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Real Indian meals contain multiple foods</a:t>
            </a: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Model must detect multiple items simultaneously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Statistics: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2 foods: 68%</a:t>
            </a: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3 foods: 24%</a:t>
            </a: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4+ foods: 8%</a:t>
            </a:r>
          </a:p>
          <a:p>
            <a:pPr algn="l" marL="561339" indent="-280669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Most common plate combination:</a:t>
            </a:r>
          </a:p>
          <a:p>
            <a:pPr algn="l">
              <a:lnSpc>
                <a:spcPts val="2599"/>
              </a:lnSpc>
            </a:pPr>
            <a:r>
              <a:rPr lang="en-US" sz="2599" spc="-5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            Rice + Dal + Roti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68518" y="2687426"/>
            <a:ext cx="8032745" cy="6231134"/>
          </a:xfrm>
          <a:custGeom>
            <a:avLst/>
            <a:gdLst/>
            <a:ahLst/>
            <a:cxnLst/>
            <a:rect r="r" b="b" t="t" l="l"/>
            <a:pathLst>
              <a:path h="6231134" w="8032745">
                <a:moveTo>
                  <a:pt x="0" y="0"/>
                </a:moveTo>
                <a:lnTo>
                  <a:pt x="8032745" y="0"/>
                </a:lnTo>
                <a:lnTo>
                  <a:pt x="8032745" y="6231134"/>
                </a:lnTo>
                <a:lnTo>
                  <a:pt x="0" y="6231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8765" y="397516"/>
            <a:ext cx="918641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2330" y="1645291"/>
            <a:ext cx="6975760" cy="52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Source: Kaggle Indian Food Nutrition Dataset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1014 rows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Nutritional values per 100g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Features include: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calories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protein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carbohydrates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fat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fiber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sodium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calcium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iron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Used for nutrition lookup after weight estimation.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3435" y="2776927"/>
            <a:ext cx="6963735" cy="5316575"/>
          </a:xfrm>
          <a:custGeom>
            <a:avLst/>
            <a:gdLst/>
            <a:ahLst/>
            <a:cxnLst/>
            <a:rect r="r" b="b" t="t" l="l"/>
            <a:pathLst>
              <a:path h="5316575" w="6963735">
                <a:moveTo>
                  <a:pt x="0" y="0"/>
                </a:moveTo>
                <a:lnTo>
                  <a:pt x="6963736" y="0"/>
                </a:lnTo>
                <a:lnTo>
                  <a:pt x="6963736" y="5316576"/>
                </a:lnTo>
                <a:lnTo>
                  <a:pt x="0" y="531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97369" y="495300"/>
            <a:ext cx="1414927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Weight Estimation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1328"/>
            <a:ext cx="7538145" cy="673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No public dataset exists for food weight estimation.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Solution: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Custom dataset will be created by the team.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100 plate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Ground truth weight measured with kitchen scale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Pipeline: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Capture plate image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Run YOLO segmentation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Calculate pixel ratio</a:t>
            </a: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     </a:t>
            </a: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     </a:t>
            </a: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pixel_ratio = food_pixels / plate_pixels</a:t>
            </a:r>
          </a:p>
          <a:p>
            <a:pPr algn="l">
              <a:lnSpc>
                <a:spcPts val="2400"/>
              </a:lnSpc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Train MLP to predict weight.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8255973" y="4514850"/>
          <a:ext cx="8758238" cy="1257300"/>
        </p:xfrm>
        <a:graphic>
          <a:graphicData uri="http://schemas.openxmlformats.org/presentationml/2006/ole">
            <p:oleObj imgW="10502900" imgH="3009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865782" y="244947"/>
            <a:ext cx="1623060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RAG Nutrition Suggestion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782" y="2756273"/>
            <a:ext cx="9260458" cy="399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After nutrition calculation, the system generates diet suggestions.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Components: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Gemini API → reasoning engine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Pinecone → vector database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ICMR guidelines → nutrition reference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Process: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Detect nutrient deficit</a:t>
            </a: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Retrieve ICMR guideline passages</a:t>
            </a: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Generate personalised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686442" y="3222893"/>
          <a:ext cx="9315450" cy="2514600"/>
        </p:xfrm>
        <a:graphic>
          <a:graphicData uri="http://schemas.openxmlformats.org/presentationml/2006/ole">
            <p:oleObj imgW="11176000" imgH="4381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980533" y="316058"/>
            <a:ext cx="832693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Alternative Plan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67130"/>
            <a:ext cx="6801259" cy="429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To ensure consistent model training: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Image preprocessing: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Resize → 640×640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Augmentation: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brightness adjustment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rotation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scaling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Annotation preparation: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segmentation masks generated using SAM-2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8032" y="495300"/>
            <a:ext cx="5892292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07765" y="3103270"/>
            <a:ext cx="9748056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Key achievements of Milestone-2: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Multiple datasets identified and analysed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quality assessed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imbalance identified and addressed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Custom dataset created for weight estimation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Preprocessing pipeline defined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Result: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is now ready for model training in Milestone-3.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NutriVision – AI-Based Food Image Classification</dc:description>
  <dc:identifier>DAHDFbSxArc</dc:identifier>
  <dcterms:modified xsi:type="dcterms:W3CDTF">2011-08-01T06:04:30Z</dcterms:modified>
  <cp:revision>1</cp:revision>
  <dc:title>Presentation - NutriVision – AI-Based Food Image Classification</dc:title>
</cp:coreProperties>
</file>